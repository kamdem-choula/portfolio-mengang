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74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Coût (M XAF)</c:v>
                </c:pt>
              </c:strCache>
            </c:strRef>
          </c:tx>
          <c:spPr>
            <a:solidFill>
              <a:srgbClr val="1F3A2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6D5-4ADD-AA10-8B36CC9B8FC6}"/>
              </c:ext>
            </c:extLst>
          </c:dPt>
          <c:dPt>
            <c:idx val="1"/>
            <c:invertIfNegative val="0"/>
            <c:bubble3D val="0"/>
            <c:spPr>
              <a:solidFill>
                <a:srgbClr val="B8741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6D5-4ADD-AA10-8B36CC9B8FC6}"/>
              </c:ext>
            </c:extLst>
          </c:dPt>
          <c:dPt>
            <c:idx val="2"/>
            <c:invertIfNegative val="0"/>
            <c:bubble3D val="0"/>
            <c:spPr>
              <a:solidFill>
                <a:srgbClr val="87A87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6D5-4ADD-AA10-8B36CC9B8FC6}"/>
              </c:ext>
            </c:extLst>
          </c:dPt>
          <c:dPt>
            <c:idx val="3"/>
            <c:invertIfNegative val="0"/>
            <c:bubble3D val="0"/>
            <c:spPr>
              <a:solidFill>
                <a:srgbClr val="8B2C0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6D5-4ADD-AA10-8B36CC9B8FC6}"/>
              </c:ext>
            </c:extLst>
          </c:dPt>
          <c:dPt>
            <c:idx val="4"/>
            <c:invertIfNegative val="0"/>
            <c:bubble3D val="0"/>
            <c:spPr>
              <a:solidFill>
                <a:srgbClr val="D991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6D5-4ADD-AA10-8B36CC9B8FC6}"/>
              </c:ext>
            </c:extLst>
          </c:dPt>
          <c:dPt>
            <c:idx val="5"/>
            <c:invertIfNegative val="0"/>
            <c:bubble3D val="0"/>
            <c:spPr>
              <a:solidFill>
                <a:srgbClr val="5A817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6D5-4ADD-AA10-8B36CC9B8FC6}"/>
              </c:ext>
            </c:extLst>
          </c:dPt>
          <c:dPt>
            <c:idx val="6"/>
            <c:invertIfNegative val="0"/>
            <c:bubble3D val="0"/>
            <c:spPr>
              <a:solidFill>
                <a:srgbClr val="6B563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86D5-4ADD-AA10-8B36CC9B8FC6}"/>
              </c:ext>
            </c:extLst>
          </c:dPt>
          <c:dPt>
            <c:idx val="7"/>
            <c:invertIfNegative val="0"/>
            <c:bubble3D val="0"/>
            <c:spPr>
              <a:solidFill>
                <a:srgbClr val="B0AE9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86D5-4ADD-AA10-8B36CC9B8FC6}"/>
              </c:ext>
            </c:extLst>
          </c:dPt>
          <c:dPt>
            <c:idx val="8"/>
            <c:invertIfNegative val="0"/>
            <c:bubble3D val="0"/>
            <c:spPr>
              <a:solidFill>
                <a:srgbClr val="4A423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86D5-4ADD-AA10-8B36CC9B8FC6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C1815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Préparation site</c:v>
                </c:pt>
                <c:pt idx="1">
                  <c:v>Transport</c:v>
                </c:pt>
                <c:pt idx="2">
                  <c:v>Entretien</c:v>
                </c:pt>
                <c:pt idx="3">
                  <c:v>Acquisition</c:v>
                </c:pt>
                <c:pt idx="4">
                  <c:v>Plantain (prod)</c:v>
                </c:pt>
                <c:pt idx="5">
                  <c:v>Gombo (prod)</c:v>
                </c:pt>
                <c:pt idx="6">
                  <c:v>Macabo (prod)</c:v>
                </c:pt>
                <c:pt idx="7">
                  <c:v>Ration</c:v>
                </c:pt>
                <c:pt idx="8">
                  <c:v>Sortie bois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8.02</c:v>
                </c:pt>
                <c:pt idx="1">
                  <c:v>3.95</c:v>
                </c:pt>
                <c:pt idx="2">
                  <c:v>3.01</c:v>
                </c:pt>
                <c:pt idx="3">
                  <c:v>2.54</c:v>
                </c:pt>
                <c:pt idx="4">
                  <c:v>2.34</c:v>
                </c:pt>
                <c:pt idx="5">
                  <c:v>0.71</c:v>
                </c:pt>
                <c:pt idx="6">
                  <c:v>0.33</c:v>
                </c:pt>
                <c:pt idx="7">
                  <c:v>0.25</c:v>
                </c:pt>
                <c:pt idx="8">
                  <c:v>0.01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86D5-4ADD-AA10-8B36CC9B8FC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C181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C8C0B0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423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Répartition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3A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D82-4F91-8F1D-F9FD354C7ECE}"/>
              </c:ext>
            </c:extLst>
          </c:dPt>
          <c:dPt>
            <c:idx val="1"/>
            <c:bubble3D val="0"/>
            <c:spPr>
              <a:solidFill>
                <a:srgbClr val="B8741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D82-4F91-8F1D-F9FD354C7ECE}"/>
              </c:ext>
            </c:extLst>
          </c:dPt>
          <c:cat>
            <c:strRef>
              <c:f>Sheet1!$A$2:$A$3</c:f>
              <c:strCache>
                <c:ptCount val="2"/>
                <c:pt idx="0">
                  <c:v>CapEx (investissement)</c:v>
                </c:pt>
                <c:pt idx="1">
                  <c:v>OpEx (exploitation)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13.43</c:v>
                </c:pt>
                <c:pt idx="1">
                  <c:v>7.72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D82-4F91-8F1D-F9FD354C7E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C181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Coût brut</c:v>
                </c:pt>
              </c:strCache>
            </c:strRef>
          </c:tx>
          <c:spPr>
            <a:solidFill>
              <a:srgbClr val="1F3A2E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C1815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Aménagement foncier</c:v>
                </c:pt>
                <c:pt idx="1">
                  <c:v>Foncier</c:v>
                </c:pt>
                <c:pt idx="2">
                  <c:v>Plantation plantain</c:v>
                </c:pt>
                <c:pt idx="3">
                  <c:v>Infrastructure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8.08</c:v>
                </c:pt>
                <c:pt idx="1">
                  <c:v>2.54</c:v>
                </c:pt>
                <c:pt idx="2">
                  <c:v>1.81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468-434B-96E4-1ED303A1F96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VNC au 06/05/26</c:v>
                </c:pt>
              </c:strCache>
            </c:strRef>
          </c:tx>
          <c:spPr>
            <a:solidFill>
              <a:srgbClr val="D9913A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C1815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Aménagement foncier</c:v>
                </c:pt>
                <c:pt idx="1">
                  <c:v>Foncier</c:v>
                </c:pt>
                <c:pt idx="2">
                  <c:v>Plantation plantain</c:v>
                </c:pt>
                <c:pt idx="3">
                  <c:v>Infrastructure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6.83</c:v>
                </c:pt>
                <c:pt idx="1">
                  <c:v>2.54</c:v>
                </c:pt>
                <c:pt idx="2">
                  <c:v>0.69</c:v>
                </c:pt>
                <c:pt idx="3">
                  <c:v>0.85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468-434B-96E4-1ED303A1F96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C181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C8C0B0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A423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C181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Prix unitaire (XAF/régime)</c:v>
                </c:pt>
              </c:strCache>
            </c:strRef>
          </c:tx>
          <c:spPr>
            <a:ln w="31750" cap="flat">
              <a:solidFill>
                <a:srgbClr val="B8741A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B8741A"/>
              </a:solidFill>
              <a:ln w="9525" cap="flat">
                <a:solidFill>
                  <a:srgbClr val="B8741A"/>
                </a:solidFill>
                <a:prstDash val="solid"/>
                <a:round/>
              </a:ln>
              <a:effectLst/>
            </c:spPr>
          </c:marker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B8741A"/>
                    </a:solidFill>
                    <a:latin typeface="Arial"/>
                  </a:defRPr>
                </a:pPr>
                <a:endParaRPr lang="fr-F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mai-25</c:v>
                </c:pt>
                <c:pt idx="1">
                  <c:v>mai-25</c:v>
                </c:pt>
                <c:pt idx="2">
                  <c:v>jun-25</c:v>
                </c:pt>
                <c:pt idx="3">
                  <c:v>aoû-25</c:v>
                </c:pt>
                <c:pt idx="4">
                  <c:v>sep-25</c:v>
                </c:pt>
                <c:pt idx="5">
                  <c:v>oct-25</c:v>
                </c:pt>
                <c:pt idx="6">
                  <c:v>nov-25</c:v>
                </c:pt>
                <c:pt idx="7">
                  <c:v>mar-26</c:v>
                </c:pt>
                <c:pt idx="8">
                  <c:v>mai-26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3485</c:v>
                </c:pt>
                <c:pt idx="1">
                  <c:v>3500</c:v>
                </c:pt>
                <c:pt idx="2">
                  <c:v>4000</c:v>
                </c:pt>
                <c:pt idx="3">
                  <c:v>3700</c:v>
                </c:pt>
                <c:pt idx="4">
                  <c:v>2857</c:v>
                </c:pt>
                <c:pt idx="5">
                  <c:v>2500</c:v>
                </c:pt>
                <c:pt idx="6">
                  <c:v>2053</c:v>
                </c:pt>
                <c:pt idx="7">
                  <c:v>1739</c:v>
                </c:pt>
                <c:pt idx="8">
                  <c:v>2547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53-49F5-8457-5001B380B962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8C0B0"/>
              </a:solidFill>
              <a:prstDash val="dash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4A4239"/>
                    </a:solidFill>
                    <a:latin typeface="Arial"/>
                  </a:defRPr>
                </a:pPr>
                <a:r>
                  <a:rPr lang="fr-CM" sz="1000" b="0" i="0" u="none" strike="noStrike">
                    <a:solidFill>
                      <a:srgbClr val="4A4239"/>
                    </a:solidFill>
                    <a:latin typeface="Arial"/>
                  </a:rPr>
                  <a:t>XAF / régime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5082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3931920" cy="6858000"/>
          </a:xfrm>
          <a:prstGeom prst="rect">
            <a:avLst/>
          </a:prstGeom>
          <a:solidFill>
            <a:srgbClr val="12282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741A"/>
                </a:solidFill>
              </a:rPr>
              <a:t>—   </a:t>
            </a:r>
            <a:r>
              <a:rPr lang="en-US" sz="1100" kern="0" spc="400" dirty="0">
                <a:solidFill>
                  <a:srgbClr val="D99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PORTFOLIO · DATA ANALYST · ÉTUDE DE CAS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86868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kern="0" spc="-100" dirty="0">
                <a:solidFill>
                  <a:srgbClr val="F5ED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Trois ans de comptabilité
agricole au Cameroun.
</a:t>
            </a:r>
            <a:r>
              <a:rPr lang="en-US" sz="5000" i="1" dirty="0">
                <a:solidFill>
                  <a:srgbClr val="D9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lecture analytique.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DD3B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Projet Mengang · Une exploitation familiale de 5,7 ha · 592 transactions analysées · 12 ventes décortiquées · 6 recommandations chiffrées.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5852160"/>
            <a:ext cx="1371600" cy="0"/>
          </a:xfrm>
          <a:prstGeom prst="line">
            <a:avLst/>
          </a:prstGeom>
          <a:noFill/>
          <a:ln w="12700">
            <a:solidFill>
              <a:srgbClr val="B874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59436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5ED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Morel  Kamdem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6355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AAA2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Analyst · Toronto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95360" y="914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AAA2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MENGANG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595360" y="146304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50" dirty="0">
                <a:solidFill>
                  <a:srgbClr val="AAA2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Localisation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595360" y="16459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ED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Mengang, Centre, Cameroun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95360" y="214884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50" dirty="0">
                <a:solidFill>
                  <a:srgbClr val="AAA2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Superficie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595360" y="23317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ED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5,7 hectares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595360" y="283464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50" dirty="0">
                <a:solidFill>
                  <a:srgbClr val="AAA2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Période d'analyse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595360" y="30175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ED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 2023 → Mai 2026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595360" y="352044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50" dirty="0">
                <a:solidFill>
                  <a:srgbClr val="AAA2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Cultures principales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595360" y="37033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ED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Plantain · Macabo · Gombo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595360" y="420624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50" dirty="0">
                <a:solidFill>
                  <a:srgbClr val="AAA2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Workers identifiés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595360" y="43891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ED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595360" y="489204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50" dirty="0">
                <a:solidFill>
                  <a:srgbClr val="AAA2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Devise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595360" y="50749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ED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XAF (Franc CFA BEAC)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7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r>
              <a:rPr lang="en-US" sz="1100" kern="0" spc="300" dirty="0">
                <a:solidFill>
                  <a:srgbClr val="B87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SYNTHÈSE EXÉCUTIVE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1C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thèse en une phrase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1C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projet Mengang a investi </a:t>
            </a:r>
            <a:r>
              <a:rPr lang="en-US" sz="22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21,16 M XAF </a:t>
            </a:r>
            <a:r>
              <a:rPr lang="en-US" sz="2200" dirty="0">
                <a:solidFill>
                  <a:srgbClr val="1C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 35 mois pour préparer 5,7 hectares de cultures vivrières au Cameroun. Les premières récoltes ont rapporté </a:t>
            </a:r>
            <a:r>
              <a:rPr lang="en-US" sz="2200" b="1" dirty="0">
                <a:solidFill>
                  <a:srgbClr val="B87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2,31 M XAF </a:t>
            </a:r>
            <a:r>
              <a:rPr lang="en-US" sz="2200" dirty="0">
                <a:solidFill>
                  <a:srgbClr val="1C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(10,9 % de recouvrement) — un résultat </a:t>
            </a:r>
            <a:r>
              <a:rPr lang="en-US" sz="2200" i="1" dirty="0">
                <a:solidFill>
                  <a:srgbClr val="1C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attendu</a:t>
            </a:r>
            <a:r>
              <a:rPr lang="en-US" sz="2200" dirty="0">
                <a:solidFill>
                  <a:srgbClr val="1C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en année 3 d'un projet agricole pluriannuel. Le burn rate mensuel a chuté de </a:t>
            </a:r>
            <a:r>
              <a:rPr lang="en-US" sz="22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591 K → 224 K</a:t>
            </a:r>
            <a:r>
              <a:rPr lang="en-US" sz="2200" dirty="0">
                <a:solidFill>
                  <a:srgbClr val="1C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: la phase d'investissement est </a:t>
            </a:r>
            <a:r>
              <a:rPr lang="en-US" sz="2200" b="1" dirty="0">
                <a:solidFill>
                  <a:srgbClr val="B87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derrière nous</a:t>
            </a:r>
            <a:r>
              <a:rPr lang="en-US" sz="2200" dirty="0">
                <a:solidFill>
                  <a:srgbClr val="1C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4114800"/>
            <a:ext cx="11247120" cy="0"/>
          </a:xfrm>
          <a:prstGeom prst="line">
            <a:avLst/>
          </a:prstGeom>
          <a:noFill/>
          <a:ln w="12700">
            <a:solidFill>
              <a:srgbClr val="C8C0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251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B87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TROIS TAKEAWAYS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B87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097280" y="47091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de production amorcée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50749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rate −62 %, premières ventes encaissées en mai 2025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0" y="4663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B87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937760" y="47091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Risque sécurité quantifié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50749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8,6 % de la valeur récoltée perdue par vol — ROI anti-vol &lt; 3 mois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138160" y="4663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B87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778240" y="47091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Signal prix à surveiller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778240" y="50749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unitaire plantain −57 % en 9 mois ; data gap marché de gros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Mengang · Portfolio Data Analyst · Morel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446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87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7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r>
              <a:rPr lang="en-US" sz="1100" kern="0" spc="300" dirty="0">
                <a:solidFill>
                  <a:srgbClr val="B87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INDICATEURS CLÉS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C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chiffres pour situer le projet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70332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8C0B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0"/>
            <a:ext cx="73152" cy="2011680"/>
          </a:xfrm>
          <a:prstGeom prst="rect">
            <a:avLst/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2880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42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INVESTISSEMENT TOTAL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21,16</a:t>
            </a:r>
            <a:r>
              <a:rPr lang="en-US" sz="1400" dirty="0">
                <a:solidFill>
                  <a:srgbClr val="4A4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 XAF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731520" y="315468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592 transactions · 35 mois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70248" y="1645920"/>
            <a:ext cx="370332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8C0B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70248" y="1645920"/>
            <a:ext cx="73152" cy="2011680"/>
          </a:xfrm>
          <a:prstGeom prst="rect">
            <a:avLst/>
          </a:prstGeom>
          <a:solidFill>
            <a:srgbClr val="87A878"/>
          </a:solidFill>
          <a:ln w="12700">
            <a:solidFill>
              <a:srgbClr val="87A8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4568" y="182880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42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REVENUS ENCAISSÉS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44568" y="2148840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dirty="0">
                <a:solidFill>
                  <a:srgbClr val="87A8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2,31</a:t>
            </a:r>
            <a:r>
              <a:rPr lang="en-US" sz="1400" dirty="0">
                <a:solidFill>
                  <a:srgbClr val="4A4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 XAF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4544568" y="315468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ventes de plantain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83296" y="1645920"/>
            <a:ext cx="370332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8C0B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83296" y="1645920"/>
            <a:ext cx="73152" cy="2011680"/>
          </a:xfrm>
          <a:prstGeom prst="rect">
            <a:avLst/>
          </a:prstGeom>
          <a:solidFill>
            <a:srgbClr val="1C1815"/>
          </a:solidFill>
          <a:ln w="12700">
            <a:solidFill>
              <a:srgbClr val="1C181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57616" y="182880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42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TAUX DE RECOUVREMENT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357616" y="2148840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dirty="0">
                <a:solidFill>
                  <a:srgbClr val="1C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10,9</a:t>
            </a:r>
            <a:r>
              <a:rPr lang="en-US" sz="1400" dirty="0">
                <a:solidFill>
                  <a:srgbClr val="4A4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%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8357616" y="315468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Revenus / Investissement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822192"/>
            <a:ext cx="370332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8C0B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822192"/>
            <a:ext cx="73152" cy="2011680"/>
          </a:xfrm>
          <a:prstGeom prst="rect">
            <a:avLst/>
          </a:prstGeom>
          <a:solidFill>
            <a:srgbClr val="8B2C0E"/>
          </a:solidFill>
          <a:ln w="12700">
            <a:solidFill>
              <a:srgbClr val="8B2C0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00507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42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ROI ACTUEL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4325112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dirty="0">
                <a:solidFill>
                  <a:srgbClr val="8B2C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−89,1</a:t>
            </a:r>
            <a:r>
              <a:rPr lang="en-US" sz="1400" dirty="0">
                <a:solidFill>
                  <a:srgbClr val="4A4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%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731520" y="533095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: 18,84 M XAF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70248" y="3822192"/>
            <a:ext cx="370332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8C0B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70248" y="3822192"/>
            <a:ext cx="73152" cy="2011680"/>
          </a:xfrm>
          <a:prstGeom prst="rect">
            <a:avLst/>
          </a:prstGeom>
          <a:solidFill>
            <a:srgbClr val="B8741A"/>
          </a:solidFill>
          <a:ln w="12700">
            <a:solidFill>
              <a:srgbClr val="B874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44568" y="400507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42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BURN RATE RÉCENT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44568" y="4325112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dirty="0">
                <a:solidFill>
                  <a:srgbClr val="B87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224</a:t>
            </a:r>
            <a:r>
              <a:rPr lang="en-US" sz="1400" dirty="0">
                <a:solidFill>
                  <a:srgbClr val="4A4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K/mois</a:t>
            </a:r>
            <a:endParaRPr lang="en-US" sz="4800" dirty="0"/>
          </a:p>
        </p:txBody>
      </p:sp>
      <p:sp>
        <p:nvSpPr>
          <p:cNvPr id="28" name="Text 26"/>
          <p:cNvSpPr/>
          <p:nvPr/>
        </p:nvSpPr>
        <p:spPr>
          <a:xfrm>
            <a:off x="4544568" y="533095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−62 % vs historique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083296" y="3822192"/>
            <a:ext cx="370332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8C0B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83296" y="3822192"/>
            <a:ext cx="73152" cy="2011680"/>
          </a:xfrm>
          <a:prstGeom prst="rect">
            <a:avLst/>
          </a:prstGeom>
          <a:solidFill>
            <a:srgbClr val="8B2C0E"/>
          </a:solidFill>
          <a:ln w="12700">
            <a:solidFill>
              <a:srgbClr val="8B2C0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57616" y="400507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42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PERTES PAR VOL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357616" y="4325112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dirty="0">
                <a:solidFill>
                  <a:srgbClr val="8B2C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217</a:t>
            </a:r>
            <a:r>
              <a:rPr lang="en-US" sz="1400" dirty="0">
                <a:solidFill>
                  <a:srgbClr val="4A4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K XAF</a:t>
            </a:r>
            <a:endParaRPr lang="en-US" sz="4800" dirty="0"/>
          </a:p>
        </p:txBody>
      </p:sp>
      <p:sp>
        <p:nvSpPr>
          <p:cNvPr id="33" name="Text 31"/>
          <p:cNvSpPr/>
          <p:nvPr/>
        </p:nvSpPr>
        <p:spPr>
          <a:xfrm>
            <a:off x="8357616" y="533095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8,6 % de la valeur récoltée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Mengang · Portfolio Data Analyst · Morel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6446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87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7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r>
              <a:rPr lang="en-US" sz="1100" kern="0" spc="300" dirty="0">
                <a:solidFill>
                  <a:srgbClr val="B87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ANATOMIE DES COÛTS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C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Où sont passés les 21 millions 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Répartition par TYPE d'activité — 9 catégories, 38 % vont à la préparation du site.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2011680"/>
          <a:ext cx="77724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8503920" y="2011680"/>
            <a:ext cx="3200400" cy="4114800"/>
          </a:xfrm>
          <a:prstGeom prst="rect">
            <a:avLst/>
          </a:prstGeom>
          <a:solidFill>
            <a:srgbClr val="F5EDDC"/>
          </a:solidFill>
          <a:ln w="6350">
            <a:solidFill>
              <a:srgbClr val="C8C0B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0" y="2194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87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686800" y="2606040"/>
            <a:ext cx="29260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Préparation site + Transport = 56,6 %</a:t>
            </a:r>
            <a:endParaRPr lang="en-US" sz="14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1C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1 XAF dépensé en intrants directs (semences, engrais, semis), </a:t>
            </a:r>
            <a:r>
              <a:rPr lang="en-US" sz="1100" b="1" dirty="0">
                <a:solidFill>
                  <a:srgbClr val="8B2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5,3 XAF</a:t>
            </a:r>
            <a:r>
              <a:rPr lang="en-US" sz="1100" dirty="0">
                <a:solidFill>
                  <a:srgbClr val="1C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l'ont été en logistique et aménagement.</a:t>
            </a:r>
            <a:endParaRPr lang="en-US" sz="14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100" i="1" dirty="0">
                <a:solidFill>
                  <a:srgbClr val="4A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ratio devra converger vers ≤ 2:1 maintenant que le site est aménagé.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Mengang · Portfolio Data Analyst · Morel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446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87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7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03·b</a:t>
            </a:r>
            <a:r>
              <a:rPr lang="en-US" sz="1100" kern="0" spc="300" dirty="0">
                <a:solidFill>
                  <a:srgbClr val="B87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LECTURE COMPTABLE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C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Reclassifier les 21 millions : actif ou charge 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4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ledger source ne distinguait pas l'investissement de l'exploitation. Après reclassification ligne par ligne (IAS 41) : 63,5 % du total a créé un actif détenu — pas une charge perdue.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2103120"/>
          <a:ext cx="365760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572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dépensé : </a:t>
            </a:r>
            <a:r>
              <a:rPr lang="en-US" sz="1100" b="1" dirty="0">
                <a:solidFill>
                  <a:srgbClr val="1C18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21,16 M XAF</a:t>
            </a:r>
            <a:endParaRPr lang="en-US" sz="10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4389120" y="2103120"/>
          <a:ext cx="731520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4389120" y="1874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B87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DÉCOMPOSITION DU CAPEX EN MILLIONS XAF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457200" y="4983480"/>
            <a:ext cx="370332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C8C0B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94360" y="5074920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B87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VUE BRUTE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594360" y="5276088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kern="0" spc="-100" dirty="0">
                <a:solidFill>
                  <a:srgbClr val="8B2C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−89,1 %</a:t>
            </a:r>
            <a:endParaRPr lang="en-US" sz="3000" dirty="0"/>
          </a:p>
        </p:txBody>
      </p:sp>
      <p:sp>
        <p:nvSpPr>
          <p:cNvPr id="12" name="Text 8"/>
          <p:cNvSpPr/>
          <p:nvPr/>
        </p:nvSpPr>
        <p:spPr>
          <a:xfrm>
            <a:off x="594360" y="578815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traité comme charge. Vue par défaut, lecture pessimiste.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594360" y="6099048"/>
            <a:ext cx="3429000" cy="0"/>
          </a:xfrm>
          <a:prstGeom prst="line">
            <a:avLst/>
          </a:prstGeom>
          <a:noFill/>
          <a:ln w="6350">
            <a:solidFill>
              <a:srgbClr val="C8C0B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94360" y="6117336"/>
            <a:ext cx="3429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18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21 156 550 XAF de coût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4297680" y="4983480"/>
            <a:ext cx="3703320" cy="1325880"/>
          </a:xfrm>
          <a:prstGeom prst="rect">
            <a:avLst/>
          </a:prstGeom>
          <a:solidFill>
            <a:srgbClr val="F5EDDC"/>
          </a:solidFill>
          <a:ln w="12700">
            <a:solidFill>
              <a:srgbClr val="B8741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434840" y="5074920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B87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VUE OPÉRATIONNELLE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4434840" y="5276088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kern="0" spc="-100" dirty="0">
                <a:solidFill>
                  <a:srgbClr val="C28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−70,1 %</a:t>
            </a:r>
            <a:endParaRPr lang="en-US" sz="3000" dirty="0"/>
          </a:p>
        </p:txBody>
      </p:sp>
      <p:sp>
        <p:nvSpPr>
          <p:cNvPr id="18" name="Text 14"/>
          <p:cNvSpPr/>
          <p:nvPr/>
        </p:nvSpPr>
        <p:spPr>
          <a:xfrm>
            <a:off x="4434840" y="578815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 l'OpEx compte. Le CapEx est un actif détenu, pas perdu.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4434840" y="6099048"/>
            <a:ext cx="3429000" cy="0"/>
          </a:xfrm>
          <a:prstGeom prst="line">
            <a:avLst/>
          </a:prstGeom>
          <a:noFill/>
          <a:ln w="6350">
            <a:solidFill>
              <a:srgbClr val="C8C0B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434840" y="6117336"/>
            <a:ext cx="3429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18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7 724 900 XAF de coût op.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8138160" y="4983480"/>
            <a:ext cx="370332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C8C0B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275320" y="5074920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B87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VUE AMORTIE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8275320" y="5276088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kern="0" spc="-100" dirty="0">
                <a:solidFill>
                  <a:srgbClr val="C28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−77,4 %</a:t>
            </a:r>
            <a:endParaRPr lang="en-US" sz="3000" dirty="0"/>
          </a:p>
        </p:txBody>
      </p:sp>
      <p:sp>
        <p:nvSpPr>
          <p:cNvPr id="24" name="Text 20"/>
          <p:cNvSpPr/>
          <p:nvPr/>
        </p:nvSpPr>
        <p:spPr>
          <a:xfrm>
            <a:off x="8275320" y="578815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OpEx + amortissement pro rata. Conforme à un P&amp;L IFRS.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8275320" y="6099048"/>
            <a:ext cx="3429000" cy="0"/>
          </a:xfrm>
          <a:prstGeom prst="line">
            <a:avLst/>
          </a:prstGeom>
          <a:noFill/>
          <a:ln w="6350">
            <a:solidFill>
              <a:srgbClr val="C8C0B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8275320" y="6117336"/>
            <a:ext cx="3429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18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10 240 923 XAF de coût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457200" y="635508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4A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VNC des actifs immobilisés au 06/05/2026 : </a:t>
            </a:r>
            <a:r>
              <a:rPr lang="en-US" sz="1100" b="1" dirty="0">
                <a:solidFill>
                  <a:srgbClr val="1F3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10,9 M XAF</a:t>
            </a:r>
            <a:r>
              <a:rPr lang="en-US" sz="1000" i="1" dirty="0">
                <a:solidFill>
                  <a:srgbClr val="4A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soit 81,3 % du CapEx engagé. Le patrimoine reste largement intact.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Mengang · Portfolio Data Analyst · Morel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1430000" y="6446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87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7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r>
              <a:rPr lang="en-US" sz="1100" kern="0" spc="300" dirty="0">
                <a:solidFill>
                  <a:srgbClr val="B87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CAPITAL HUMAIN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C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43 personnes, 14 portent 80 % des coûts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Analyse Pareto / ABC. Indice Herfindahl-Hirschman = 595 (concentration modérée).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6857998" cy="4114803"/>
        </p:xfrm>
        <a:graphic>
          <a:graphicData uri="http://schemas.openxmlformats.org/drawingml/2006/table">
            <a:tbl>
              <a:tblPr/>
              <a:tblGrid>
                <a:gridCol w="979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40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Récipiendaire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XAF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07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42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C18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Theophile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C18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2 570 500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C18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48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C18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12,2 %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4A423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12,2 %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74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07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42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C18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Moise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C18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1 919 000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C18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67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C18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9,1 %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4A423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21,2 %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74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07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42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C18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Ebolo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C18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1 905 000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C18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C18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9,0 %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4A423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30,2 %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74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07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42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C18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Bebeto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C18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1 857 500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C18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C18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8,8 %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4A423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39,0 %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74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07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42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C18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C18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1 334 200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C18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63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C18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6,3 %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4A423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45,3 %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74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07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42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C18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C18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1 241 200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C18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48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C18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5,9 %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4A423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51,2 %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74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07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42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C18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Martin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C18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1 057 000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C18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13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C18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5,0 %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4A423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56,2 %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74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07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42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C18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C18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999 750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C18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73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C18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4,7 %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4A423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60,9 %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74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407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42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C18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Arnaud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C18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823 500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C18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C18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3,9 %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4A423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64,8 %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74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407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42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C18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C18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748 400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C18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23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C18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3,5 %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4A423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68,3 %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74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80960" y="2011680"/>
            <a:ext cx="4023360" cy="4114800"/>
          </a:xfrm>
          <a:prstGeom prst="rect">
            <a:avLst/>
          </a:prstGeom>
          <a:solidFill>
            <a:srgbClr val="F5EDDC"/>
          </a:solidFill>
          <a:ln w="6350">
            <a:solidFill>
              <a:srgbClr val="C8C0B0"/>
            </a:solidFill>
            <a:prstDash val="solid"/>
          </a:ln>
        </p:spPr>
      </p:sp>
      <p:sp>
        <p:nvSpPr>
          <p:cNvPr id="5" name="Text 4"/>
          <p:cNvSpPr/>
          <p:nvPr/>
        </p:nvSpPr>
        <p:spPr>
          <a:xfrm>
            <a:off x="7863840" y="219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87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OBSERVATIONS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863840" y="2606040"/>
            <a:ext cx="3703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Theophile &amp; Moise</a:t>
            </a:r>
            <a:r>
              <a:rPr lang="en-US" sz="1100" dirty="0">
                <a:solidFill>
                  <a:srgbClr val="1C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piliers opérationnels (115 transactions à eux deux).</a:t>
            </a:r>
            <a:endParaRPr lang="en-US" sz="12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Ebolo</a:t>
            </a:r>
            <a:r>
              <a:rPr lang="en-US" sz="1100" dirty="0">
                <a:solidFill>
                  <a:srgbClr val="1C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9 % en 3 transactions — vendeur du terrain initial.</a:t>
            </a:r>
            <a:endParaRPr lang="en-US" sz="12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8B2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Bebeto</a:t>
            </a:r>
            <a:r>
              <a:rPr lang="en-US" sz="1100" dirty="0">
                <a:solidFill>
                  <a:srgbClr val="1C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transporteur quasi-exclusif Yaoundé ↔ site. 66 trajets. </a:t>
            </a:r>
            <a:r>
              <a:rPr lang="en-US" sz="1100" i="1" dirty="0">
                <a:solidFill>
                  <a:srgbClr val="8B2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of failure logistique à diversifier.</a:t>
            </a:r>
            <a:endParaRPr lang="en-US" sz="12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Morel</a:t>
            </a:r>
            <a:r>
              <a:rPr lang="en-US" sz="1100" dirty="0">
                <a:solidFill>
                  <a:srgbClr val="1C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73 transactions à faible montant moyen (13 K XAF) — gestion quotidienne (rations, petits achats).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Mengang · Portfolio Data Analyst · Morel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446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87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7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r>
              <a:rPr lang="en-US" sz="1100" kern="0" spc="300" dirty="0">
                <a:solidFill>
                  <a:srgbClr val="B87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PERFORMANCE COMMERCIALE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C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premières récoltes, et les premiers vols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transactions documentées depuis mai 2025. Volumes en hausse, prix en baisse, vols persistants.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2011680"/>
          <a:ext cx="77724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8503920" y="2011680"/>
            <a:ext cx="3200400" cy="4114800"/>
          </a:xfrm>
          <a:prstGeom prst="rect">
            <a:avLst/>
          </a:prstGeom>
          <a:solidFill>
            <a:srgbClr val="F5EDDC"/>
          </a:solidFill>
          <a:ln w="6350">
            <a:solidFill>
              <a:srgbClr val="C8C0B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0" y="2194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8B2C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 PRIX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686800" y="2606040"/>
            <a:ext cx="29260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8B2C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−57 %</a:t>
            </a:r>
            <a:endParaRPr lang="en-US" sz="3400" dirty="0"/>
          </a:p>
          <a:p>
            <a:pPr marL="0" indent="0">
              <a:buNone/>
            </a:pPr>
            <a:r>
              <a:rPr lang="en-US" sz="1300" i="1" dirty="0">
                <a:solidFill>
                  <a:srgbClr val="4A4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9 mois</a:t>
            </a:r>
            <a:endParaRPr lang="en-US" sz="34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3400" dirty="0"/>
          </a:p>
          <a:p>
            <a:pPr marL="0" indent="0">
              <a:buNone/>
            </a:pPr>
            <a:r>
              <a:rPr lang="en-US" sz="1000" dirty="0">
                <a:solidFill>
                  <a:srgbClr val="1F3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 : 4 000 XAF (juin 25)</a:t>
            </a:r>
            <a:endParaRPr lang="en-US" sz="3400" dirty="0"/>
          </a:p>
          <a:p>
            <a:pPr marL="0" indent="0">
              <a:buNone/>
            </a:pPr>
            <a:r>
              <a:rPr lang="en-US" sz="1000" dirty="0">
                <a:solidFill>
                  <a:srgbClr val="8B2C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 : 1 739 XAF (mars 26)</a:t>
            </a:r>
            <a:endParaRPr lang="en-US" sz="34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3400" dirty="0"/>
          </a:p>
          <a:p>
            <a:pPr marL="0" indent="0">
              <a:buNone/>
            </a:pPr>
            <a:r>
              <a:rPr lang="en-US" sz="1000" dirty="0">
                <a:solidFill>
                  <a:srgbClr val="4A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Corrélation Pearson date↔prix :</a:t>
            </a:r>
            <a:endParaRPr lang="en-US" sz="3400" dirty="0"/>
          </a:p>
          <a:p>
            <a:pPr marL="0" indent="0">
              <a:buNone/>
            </a:pPr>
            <a:r>
              <a:rPr lang="en-US" sz="1300" b="1" dirty="0">
                <a:solidFill>
                  <a:srgbClr val="8B2C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−0,82</a:t>
            </a:r>
            <a:endParaRPr lang="en-US" sz="34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34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C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Hypothèses :</a:t>
            </a:r>
            <a:endParaRPr lang="en-US" sz="3400" dirty="0"/>
          </a:p>
          <a:p>
            <a:pPr marL="0" indent="0">
              <a:buNone/>
            </a:pPr>
            <a:r>
              <a:rPr lang="en-US" sz="900" dirty="0">
                <a:solidFill>
                  <a:srgbClr val="4A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Saisonnalité (saison pluies)</a:t>
            </a:r>
            <a:endParaRPr lang="en-US" sz="3400" dirty="0"/>
          </a:p>
          <a:p>
            <a:pPr marL="0" indent="0">
              <a:buNone/>
            </a:pPr>
            <a:r>
              <a:rPr lang="en-US" sz="900" dirty="0">
                <a:solidFill>
                  <a:srgbClr val="4A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Qualité décroissante</a:t>
            </a:r>
            <a:endParaRPr lang="en-US" sz="3400" dirty="0"/>
          </a:p>
          <a:p>
            <a:pPr marL="0" indent="0">
              <a:buNone/>
            </a:pPr>
            <a:r>
              <a:rPr lang="en-US" sz="900" dirty="0">
                <a:solidFill>
                  <a:srgbClr val="4A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Effet d'apprentissage marché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Mengang · Portfolio Data Analyst · Morel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446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87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7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r>
              <a:rPr lang="en-US" sz="1100" kern="0" spc="300" dirty="0">
                <a:solidFill>
                  <a:srgbClr val="B87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MODÉLISATION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C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Trois scénarios, trois horizons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Quand le projet atteindra-t-il l'équilibre ? Modèle simple à 3 paramètres : volume, prix, coûts opérationnels.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36576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0B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011680"/>
            <a:ext cx="3657600" cy="457200"/>
          </a:xfrm>
          <a:prstGeom prst="rect">
            <a:avLst/>
          </a:prstGeom>
          <a:solidFill>
            <a:srgbClr val="8B2C0E"/>
          </a:solidFill>
          <a:ln w="12700">
            <a:solidFill>
              <a:srgbClr val="8B2C0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7568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CONSERVATEUR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4A42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Break-even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8803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dirty="0">
                <a:solidFill>
                  <a:srgbClr val="8B2C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6,3 ans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731520" y="384048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2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 : </a:t>
            </a:r>
            <a:r>
              <a:rPr lang="en-US" sz="1000" b="1" dirty="0">
                <a:solidFill>
                  <a:srgbClr val="1C18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 rég/mois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2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Prix : </a:t>
            </a:r>
            <a:r>
              <a:rPr lang="en-US" sz="1000" b="1" dirty="0">
                <a:solidFill>
                  <a:srgbClr val="1C18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3 000 XAF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2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Marge nette : </a:t>
            </a:r>
            <a:r>
              <a:rPr lang="en-US" sz="1000" b="1" dirty="0">
                <a:solidFill>
                  <a:srgbClr val="8B2C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250 K/mois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5212080"/>
            <a:ext cx="3108960" cy="0"/>
          </a:xfrm>
          <a:prstGeom prst="line">
            <a:avLst/>
          </a:prstGeom>
          <a:noFill/>
          <a:ln w="6350">
            <a:solidFill>
              <a:srgbClr val="C8C0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53492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4A4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stable au niveau actuel ; aucune intensification.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0" y="2011680"/>
            <a:ext cx="36576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0B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2011680"/>
            <a:ext cx="3657600" cy="457200"/>
          </a:xfrm>
          <a:prstGeom prst="rect">
            <a:avLst/>
          </a:prstGeom>
          <a:solidFill>
            <a:srgbClr val="B8741A"/>
          </a:solidFill>
          <a:ln w="12700">
            <a:solidFill>
              <a:srgbClr val="B874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0" y="207568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RÉALISTE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0" y="2606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4A42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Break-even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0" y="28803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dirty="0">
                <a:solidFill>
                  <a:srgbClr val="B87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3,5 ans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4572000" y="384048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2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 : </a:t>
            </a:r>
            <a:r>
              <a:rPr lang="en-US" sz="1000" b="1" dirty="0">
                <a:solidFill>
                  <a:srgbClr val="1C18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250 rég/mois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2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Prix : </a:t>
            </a:r>
            <a:r>
              <a:rPr lang="en-US" sz="1000" b="1" dirty="0">
                <a:solidFill>
                  <a:srgbClr val="1C18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2 800 XAF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2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Marge nette : </a:t>
            </a:r>
            <a:r>
              <a:rPr lang="en-US" sz="1000" b="1" dirty="0">
                <a:solidFill>
                  <a:srgbClr val="B87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450 K/mois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0" y="5212080"/>
            <a:ext cx="3108960" cy="0"/>
          </a:xfrm>
          <a:prstGeom prst="line">
            <a:avLst/>
          </a:prstGeom>
          <a:noFill/>
          <a:ln w="6350">
            <a:solidFill>
              <a:srgbClr val="C8C0B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53492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4A4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Optimisation des cycles plantain + démarrage gombo et macabo.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138160" y="2011680"/>
            <a:ext cx="36576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0B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38160" y="2011680"/>
            <a:ext cx="3657600" cy="457200"/>
          </a:xfrm>
          <a:prstGeom prst="rect">
            <a:avLst/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21040" y="207568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OPTIMISTE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12480" y="2606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4A42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Break-even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412480" y="28803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2,0 ans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8412480" y="384048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2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 : </a:t>
            </a:r>
            <a:r>
              <a:rPr lang="en-US" sz="1000" b="1" dirty="0">
                <a:solidFill>
                  <a:srgbClr val="1C18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 rég/mois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2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Prix : </a:t>
            </a:r>
            <a:r>
              <a:rPr lang="en-US" sz="1000" b="1" dirty="0">
                <a:solidFill>
                  <a:srgbClr val="1C18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2 700 XAF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2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Marge nette : </a:t>
            </a:r>
            <a:r>
              <a:rPr lang="en-US" sz="1000" b="1" dirty="0">
                <a:solidFill>
                  <a:srgbClr val="1F3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780 K/mois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412480" y="5212080"/>
            <a:ext cx="3108960" cy="0"/>
          </a:xfrm>
          <a:prstGeom prst="line">
            <a:avLst/>
          </a:prstGeom>
          <a:noFill/>
          <a:ln w="6350">
            <a:solidFill>
              <a:srgbClr val="C8C0B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12480" y="53492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4A4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Multi-cultures rotatives, gardiennage, prix marché de gros.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Mengang · Portfolio Data Analyst · Morel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446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87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7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r>
              <a:rPr lang="en-US" sz="1100" kern="0" spc="300" dirty="0">
                <a:solidFill>
                  <a:srgbClr val="B87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RECOMMANDATIONS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C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leviers pour accélérer le break-even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36576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C8C0B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800" dirty="0">
                <a:solidFill>
                  <a:srgbClr val="B87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19202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Système anti-vol minimal viable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5146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F3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Impact ★★★  </a:t>
            </a:r>
            <a:r>
              <a:rPr lang="en-US" sz="800" b="1" kern="0" spc="100" dirty="0">
                <a:solidFill>
                  <a:srgbClr val="B87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Effort ☆☆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" y="28346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Gardien rotatif ~50 K/mois. ROI atteint en 3 mois si les vols (217 K XAF perdus) sont stoppés.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97680" y="1737360"/>
            <a:ext cx="36576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C8C0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800" dirty="0">
                <a:solidFill>
                  <a:srgbClr val="B87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4526280" y="19202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Diversification du transporteur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26280" y="25146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F3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Impact ★★  </a:t>
            </a:r>
            <a:r>
              <a:rPr lang="en-US" sz="800" b="1" kern="0" spc="100" dirty="0">
                <a:solidFill>
                  <a:srgbClr val="B87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Effort ☆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26280" y="28346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Bebeto = 66 trajets, 8,8 % des coûts. Identifier 2 alternatives, négocier tarif benchmark.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38160" y="1737360"/>
            <a:ext cx="36576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C8C0B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5568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800" dirty="0">
                <a:solidFill>
                  <a:srgbClr val="B87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8366760" y="19202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Capture des prix de gros Yaoundé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66760" y="25146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F3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Impact ★★★  </a:t>
            </a:r>
            <a:r>
              <a:rPr lang="en-US" sz="800" b="1" kern="0" spc="100" dirty="0">
                <a:solidFill>
                  <a:srgbClr val="B87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Effort ★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366760" y="28346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Relevé hebdomadaire marchés Mokolo/Mfoundi. Sans cela, impossible de juger les prix obtenus.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36576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C8C0B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4069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800" dirty="0">
                <a:solidFill>
                  <a:srgbClr val="B87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685800" y="42062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Atomisation des charges site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85800" y="48006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F3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Impact ★★  </a:t>
            </a:r>
            <a:r>
              <a:rPr lang="en-US" sz="800" b="1" kern="0" spc="100" dirty="0">
                <a:solidFill>
                  <a:srgbClr val="B87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Effort ★★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85800" y="51206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Métayage sur 1 ha : famille loge contre % récolte. Réduit charges fixes + résout surveillance.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97680" y="4023360"/>
            <a:ext cx="36576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C8C0B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0" y="4069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800" dirty="0">
                <a:solidFill>
                  <a:srgbClr val="B87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4526280" y="42062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Modèle multi-cultures rotatif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26280" y="48006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F3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Impact ★★★  </a:t>
            </a:r>
            <a:r>
              <a:rPr lang="en-US" sz="800" b="1" kern="0" spc="100" dirty="0">
                <a:solidFill>
                  <a:srgbClr val="B87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Effort ★★★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26280" y="51206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Gombo en lisières (45 j) + plantain en parc mature + macabo en sous-bois. Optimisation linéaire à 2 saisons.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138160" y="4023360"/>
            <a:ext cx="36576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C8C0B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155680" y="4069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800" dirty="0">
                <a:solidFill>
                  <a:srgbClr val="B87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3800" dirty="0"/>
          </a:p>
        </p:txBody>
      </p:sp>
      <p:sp>
        <p:nvSpPr>
          <p:cNvPr id="31" name="Text 29"/>
          <p:cNvSpPr/>
          <p:nvPr/>
        </p:nvSpPr>
        <p:spPr>
          <a:xfrm>
            <a:off x="8366760" y="42062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Système d'information léger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366760" y="48006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F3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Impact ★★  </a:t>
            </a:r>
            <a:r>
              <a:rPr lang="en-US" sz="800" b="1" kern="0" spc="100" dirty="0">
                <a:solidFill>
                  <a:srgbClr val="B87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Effort ★★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366760" y="51206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Migrer Excel → Google Forms/Kobo Toolbox. Saisie mobile géolocalisée. Coût zéro, gain décisionnel énorme.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Mengang · Portfolio Data Analyst · Morel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6446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87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7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r>
              <a:rPr lang="en-US" sz="1100" kern="0" spc="300" dirty="0">
                <a:solidFill>
                  <a:srgbClr val="B87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MÉTHODOLOGIE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C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Comment cette analyse a été produite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2651760" cy="0"/>
          </a:xfrm>
          <a:prstGeom prst="line">
            <a:avLst/>
          </a:prstGeom>
          <a:noFill/>
          <a:ln w="25400">
            <a:solidFill>
              <a:srgbClr val="1F3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745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B87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C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Ingestion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26517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onglets Excel via pandas. Lecture multi-sheets, validation des schémas, identification des doublons inter-feuilles.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737360"/>
            <a:ext cx="2651760" cy="0"/>
          </a:xfrm>
          <a:prstGeom prst="line">
            <a:avLst/>
          </a:prstGeom>
          <a:noFill/>
          <a:ln w="25400">
            <a:solidFill>
              <a:srgbClr val="1F3A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8745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B87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0" y="21488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C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Nettoyage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383280" y="2651760"/>
            <a:ext cx="26517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 (espaces, accents, casse), conversion dates Excel-serial → ISO, déduplication, validation des montants.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1737360"/>
            <a:ext cx="2651760" cy="0"/>
          </a:xfrm>
          <a:prstGeom prst="line">
            <a:avLst/>
          </a:prstGeom>
          <a:noFill/>
          <a:ln w="25400">
            <a:solidFill>
              <a:srgbClr val="1F3A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8745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B87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09360" y="21488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C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Agrégation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09360" y="2651760"/>
            <a:ext cx="26517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Pivots sur 5 axes : temps (an/mois), type, nature, récipiendaire, culture. Calcul Pareto, cumuls, indices ABC.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235440" y="1737360"/>
            <a:ext cx="2651760" cy="0"/>
          </a:xfrm>
          <a:prstGeom prst="line">
            <a:avLst/>
          </a:prstGeom>
          <a:noFill/>
          <a:ln w="25400">
            <a:solidFill>
              <a:srgbClr val="1F3A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0" y="18745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B87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235440" y="21488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C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Modélisation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235440" y="2651760"/>
            <a:ext cx="26517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linéaire sur prix, indice HHI sur concentration, scénarios break-even paramétrés, courbes de récupération.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846320"/>
            <a:ext cx="11247120" cy="0"/>
          </a:xfrm>
          <a:prstGeom prst="line">
            <a:avLst/>
          </a:prstGeom>
          <a:noFill/>
          <a:ln w="12700">
            <a:solidFill>
              <a:srgbClr val="C8C0B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5029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B87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 TECHNIQUE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53492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</a:t>
            </a:r>
            <a:r>
              <a:rPr lang="en-US" sz="1100" dirty="0">
                <a:solidFill>
                  <a:srgbClr val="4A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(pandas, numpy)</a:t>
            </a:r>
            <a:r>
              <a:rPr lang="en-US" sz="1100" dirty="0">
                <a:solidFill>
                  <a:srgbClr val="C8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2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openpyxl </a:t>
            </a:r>
            <a:r>
              <a:rPr lang="en-US" sz="1100" dirty="0">
                <a:solidFill>
                  <a:srgbClr val="4A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(workbook structuré)</a:t>
            </a:r>
            <a:r>
              <a:rPr lang="en-US" sz="1100" dirty="0">
                <a:solidFill>
                  <a:srgbClr val="C8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2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</a:t>
            </a:r>
            <a:r>
              <a:rPr lang="en-US" sz="1100" dirty="0">
                <a:solidFill>
                  <a:srgbClr val="4A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(dashboard interactif)</a:t>
            </a:r>
            <a:r>
              <a:rPr lang="en-US" sz="1100" dirty="0">
                <a:solidFill>
                  <a:srgbClr val="C8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2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PptxGenJS </a:t>
            </a:r>
            <a:r>
              <a:rPr lang="en-US" sz="1100" dirty="0">
                <a:solidFill>
                  <a:srgbClr val="4A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(deck portfolio)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4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Tout le pipeline est reproductible. Chaque chiffre du dashboard remonte à une ligne du ledger source.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Mengang · Portfolio Data Analyst · Morel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446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87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B8741A"/>
          </a:solidFill>
          <a:ln w="12700">
            <a:solidFill>
              <a:srgbClr val="B87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D99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  MERCI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kern="0" spc="-100" dirty="0">
                <a:solidFill>
                  <a:srgbClr val="F5ED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Trois ans de comptabilité,
</a:t>
            </a:r>
            <a:r>
              <a:rPr lang="en-US" sz="5600" i="1" kern="0" spc="-100" dirty="0">
                <a:solidFill>
                  <a:srgbClr val="D9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huit conclusions actionnables.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DD3B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L'analyse est livrée avec : un tableau de bord HTML interactif, un workbook Excel structuré, et ce deck de portfolio.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DDD3B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code source et les notebooks sont disponibles sur demande.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5486400"/>
            <a:ext cx="1828800" cy="0"/>
          </a:xfrm>
          <a:prstGeom prst="line">
            <a:avLst/>
          </a:prstGeom>
          <a:noFill/>
          <a:ln w="12700">
            <a:solidFill>
              <a:srgbClr val="B874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55778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5ED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Morel Kamdem
</a:t>
            </a:r>
            <a:r>
              <a:rPr lang="en-US" sz="1000" kern="0" spc="200" dirty="0">
                <a:solidFill>
                  <a:srgbClr val="AAA2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Analyst Canada · Toronto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0" y="6126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AAA2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PROJET MENGANG · CAMEROUN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1417</Words>
  <Application>Microsoft Office PowerPoint</Application>
  <PresentationFormat>Grand écran</PresentationFormat>
  <Paragraphs>286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Consolas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Mengang — Portfolio Data Analyst</dc:title>
  <dc:subject>PptxGenJS Presentation</dc:subject>
  <dc:creator>Mill</dc:creator>
  <cp:lastModifiedBy>CHOULEY</cp:lastModifiedBy>
  <cp:revision>4</cp:revision>
  <dcterms:created xsi:type="dcterms:W3CDTF">2026-06-10T00:56:41Z</dcterms:created>
  <dcterms:modified xsi:type="dcterms:W3CDTF">2026-06-17T03:56:32Z</dcterms:modified>
</cp:coreProperties>
</file>